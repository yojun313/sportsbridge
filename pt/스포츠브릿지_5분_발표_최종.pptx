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20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1"/>
    <p:restoredTop sz="60999"/>
  </p:normalViewPr>
  <p:slideViewPr>
    <p:cSldViewPr snapToGrid="0" snapToObjects="1">
      <p:cViewPr>
        <p:scale>
          <a:sx n="95" d="100"/>
          <a:sy n="95" d="100"/>
        </p:scale>
        <p:origin x="2200" y="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934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안녕하세요</a:t>
            </a:r>
            <a:r>
              <a:rPr dirty="0"/>
              <a:t>. </a:t>
            </a:r>
            <a:r>
              <a:rPr dirty="0" err="1"/>
              <a:t>포항공과대학교</a:t>
            </a:r>
            <a:r>
              <a:rPr dirty="0"/>
              <a:t> 컴퓨터공학과</a:t>
            </a:r>
            <a:r>
              <a:rPr lang="ko-KR" altLang="en-US" dirty="0" err="1"/>
              <a:t>에</a:t>
            </a:r>
            <a:r>
              <a:rPr lang="ko-KR" altLang="en-US" dirty="0"/>
              <a:t> 재학 중인</a:t>
            </a:r>
            <a:r>
              <a:rPr dirty="0"/>
              <a:t> </a:t>
            </a:r>
            <a:r>
              <a:rPr dirty="0" err="1"/>
              <a:t>문요준입니다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lang="ko-KR" altLang="en-US" dirty="0"/>
              <a:t>이번 경진대회에 참가하면서 제작한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dirty="0" err="1"/>
              <a:t>스포츠</a:t>
            </a:r>
            <a:r>
              <a:rPr dirty="0"/>
              <a:t> </a:t>
            </a:r>
            <a:r>
              <a:rPr dirty="0" err="1"/>
              <a:t>강좌이용권을</a:t>
            </a:r>
            <a:r>
              <a:rPr dirty="0"/>
              <a:t> </a:t>
            </a:r>
            <a:r>
              <a:rPr dirty="0" err="1"/>
              <a:t>사용할</a:t>
            </a:r>
            <a:r>
              <a:rPr dirty="0"/>
              <a:t> </a:t>
            </a:r>
            <a:r>
              <a:rPr dirty="0" err="1"/>
              <a:t>강좌를</a:t>
            </a:r>
            <a:r>
              <a:rPr dirty="0"/>
              <a:t> </a:t>
            </a:r>
            <a:r>
              <a:rPr dirty="0" err="1"/>
              <a:t>찾는</a:t>
            </a:r>
            <a:r>
              <a:rPr dirty="0"/>
              <a:t> </a:t>
            </a:r>
            <a:r>
              <a:rPr dirty="0" err="1"/>
              <a:t>이용자와</a:t>
            </a:r>
            <a:r>
              <a:rPr dirty="0"/>
              <a:t>, </a:t>
            </a:r>
            <a:r>
              <a:rPr dirty="0" err="1"/>
              <a:t>지역의</a:t>
            </a:r>
            <a:r>
              <a:rPr dirty="0"/>
              <a:t> </a:t>
            </a:r>
            <a:r>
              <a:rPr dirty="0" err="1"/>
              <a:t>시설과</a:t>
            </a:r>
            <a:r>
              <a:rPr dirty="0"/>
              <a:t> </a:t>
            </a:r>
            <a:r>
              <a:rPr dirty="0" err="1"/>
              <a:t>강좌를</a:t>
            </a:r>
            <a:r>
              <a:rPr dirty="0"/>
              <a:t> </a:t>
            </a:r>
            <a:r>
              <a:rPr dirty="0" err="1"/>
              <a:t>검토하는</a:t>
            </a:r>
            <a:r>
              <a:rPr dirty="0"/>
              <a:t> </a:t>
            </a:r>
            <a:r>
              <a:rPr dirty="0" err="1"/>
              <a:t>담당자를</a:t>
            </a:r>
            <a:r>
              <a:rPr dirty="0"/>
              <a:t> </a:t>
            </a:r>
            <a:r>
              <a:rPr dirty="0" err="1"/>
              <a:t>연결하는</a:t>
            </a:r>
            <a:r>
              <a:rPr dirty="0"/>
              <a:t> </a:t>
            </a:r>
            <a:r>
              <a:rPr dirty="0" err="1"/>
              <a:t>스포츠브릿지를</a:t>
            </a:r>
            <a:r>
              <a:rPr dirty="0"/>
              <a:t> </a:t>
            </a:r>
            <a:r>
              <a:rPr dirty="0" err="1"/>
              <a:t>소개하겠습니다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스포츠</a:t>
            </a:r>
            <a:r>
              <a:rPr dirty="0"/>
              <a:t> </a:t>
            </a:r>
            <a:r>
              <a:rPr dirty="0" err="1"/>
              <a:t>강좌이용권은</a:t>
            </a:r>
            <a:r>
              <a:rPr dirty="0"/>
              <a:t> </a:t>
            </a:r>
            <a:r>
              <a:rPr dirty="0" err="1"/>
              <a:t>저소득층</a:t>
            </a:r>
            <a:r>
              <a:rPr dirty="0"/>
              <a:t> </a:t>
            </a:r>
            <a:r>
              <a:rPr dirty="0" err="1"/>
              <a:t>유·청소년과</a:t>
            </a:r>
            <a:r>
              <a:rPr dirty="0"/>
              <a:t> </a:t>
            </a:r>
            <a:r>
              <a:rPr dirty="0" err="1"/>
              <a:t>장애인</a:t>
            </a:r>
            <a:r>
              <a:rPr dirty="0"/>
              <a:t> </a:t>
            </a:r>
            <a:r>
              <a:rPr dirty="0" err="1"/>
              <a:t>등의</a:t>
            </a:r>
            <a:r>
              <a:rPr dirty="0"/>
              <a:t> </a:t>
            </a:r>
            <a:r>
              <a:rPr dirty="0" err="1"/>
              <a:t>스포츠</a:t>
            </a:r>
            <a:r>
              <a:rPr dirty="0"/>
              <a:t> </a:t>
            </a:r>
            <a:r>
              <a:rPr dirty="0" err="1"/>
              <a:t>강좌</a:t>
            </a:r>
            <a:r>
              <a:rPr dirty="0"/>
              <a:t> </a:t>
            </a:r>
            <a:r>
              <a:rPr dirty="0" err="1"/>
              <a:t>수강료를</a:t>
            </a:r>
            <a:r>
              <a:rPr dirty="0"/>
              <a:t> </a:t>
            </a:r>
            <a:r>
              <a:rPr dirty="0" err="1"/>
              <a:t>지원하는</a:t>
            </a:r>
            <a:r>
              <a:rPr dirty="0"/>
              <a:t> </a:t>
            </a:r>
            <a:r>
              <a:rPr dirty="0" err="1"/>
              <a:t>사업입니다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 err="1"/>
              <a:t>대상자로</a:t>
            </a:r>
            <a:r>
              <a:rPr dirty="0"/>
              <a:t> </a:t>
            </a:r>
            <a:r>
              <a:rPr dirty="0" err="1"/>
              <a:t>선정되면</a:t>
            </a:r>
            <a:r>
              <a:rPr dirty="0"/>
              <a:t> </a:t>
            </a:r>
            <a:r>
              <a:rPr dirty="0" err="1"/>
              <a:t>가맹시설의</a:t>
            </a:r>
            <a:r>
              <a:rPr dirty="0"/>
              <a:t> </a:t>
            </a:r>
            <a:r>
              <a:rPr dirty="0" err="1"/>
              <a:t>강좌를</a:t>
            </a:r>
            <a:r>
              <a:rPr dirty="0"/>
              <a:t> </a:t>
            </a:r>
            <a:r>
              <a:rPr dirty="0" err="1"/>
              <a:t>결제해</a:t>
            </a:r>
            <a:r>
              <a:rPr dirty="0"/>
              <a:t> </a:t>
            </a:r>
            <a:r>
              <a:rPr dirty="0" err="1"/>
              <a:t>이용할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lang="ko-KR" altLang="en-US" dirty="0"/>
              <a:t>사용자는 지원을 받고 참여를 위해서는 자신의 상황에 따라 이용가능한 시설</a:t>
            </a:r>
            <a:r>
              <a:rPr lang="en-US" altLang="ko-KR" dirty="0"/>
              <a:t>,</a:t>
            </a:r>
            <a:r>
              <a:rPr lang="ko-KR" altLang="en-US" dirty="0"/>
              <a:t> 종목을 탐색해야 합니다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제작의</a:t>
            </a:r>
            <a:r>
              <a:rPr dirty="0"/>
              <a:t> </a:t>
            </a:r>
            <a:r>
              <a:rPr dirty="0" err="1"/>
              <a:t>출발점은</a:t>
            </a:r>
            <a:r>
              <a:rPr dirty="0"/>
              <a:t> </a:t>
            </a:r>
            <a:r>
              <a:rPr dirty="0" err="1"/>
              <a:t>지원이</a:t>
            </a:r>
            <a:r>
              <a:rPr dirty="0"/>
              <a:t> </a:t>
            </a:r>
            <a:r>
              <a:rPr dirty="0" err="1"/>
              <a:t>있어도</a:t>
            </a:r>
            <a:r>
              <a:rPr dirty="0"/>
              <a:t> </a:t>
            </a:r>
            <a:r>
              <a:rPr dirty="0" err="1"/>
              <a:t>이용할</a:t>
            </a:r>
            <a:r>
              <a:rPr dirty="0"/>
              <a:t> </a:t>
            </a:r>
            <a:r>
              <a:rPr dirty="0" err="1"/>
              <a:t>시설이</a:t>
            </a:r>
            <a:r>
              <a:rPr dirty="0"/>
              <a:t> </a:t>
            </a:r>
            <a:r>
              <a:rPr dirty="0" err="1"/>
              <a:t>부족할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있다는</a:t>
            </a:r>
            <a:r>
              <a:rPr dirty="0"/>
              <a:t> </a:t>
            </a:r>
            <a:r>
              <a:rPr dirty="0" err="1"/>
              <a:t>점이었습니다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/>
              <a:t>2024년 </a:t>
            </a:r>
            <a:r>
              <a:rPr dirty="0" err="1"/>
              <a:t>만족도</a:t>
            </a:r>
            <a:r>
              <a:rPr dirty="0"/>
              <a:t> </a:t>
            </a:r>
            <a:r>
              <a:rPr dirty="0" err="1"/>
              <a:t>조사에서</a:t>
            </a:r>
            <a:r>
              <a:rPr dirty="0"/>
              <a:t> </a:t>
            </a:r>
            <a:r>
              <a:rPr dirty="0" err="1"/>
              <a:t>지원기간을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사용하지</a:t>
            </a:r>
            <a:r>
              <a:rPr dirty="0"/>
              <a:t> </a:t>
            </a:r>
            <a:r>
              <a:rPr dirty="0" err="1"/>
              <a:t>못한</a:t>
            </a:r>
            <a:r>
              <a:rPr dirty="0"/>
              <a:t> </a:t>
            </a:r>
            <a:r>
              <a:rPr dirty="0" err="1"/>
              <a:t>이유로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제시된</a:t>
            </a:r>
            <a:r>
              <a:rPr dirty="0"/>
              <a:t> </a:t>
            </a:r>
            <a:r>
              <a:rPr dirty="0" err="1"/>
              <a:t>응답이</a:t>
            </a:r>
            <a:r>
              <a:rPr dirty="0"/>
              <a:t> </a:t>
            </a:r>
            <a:r>
              <a:rPr dirty="0" err="1"/>
              <a:t>이용시설</a:t>
            </a:r>
            <a:r>
              <a:rPr dirty="0"/>
              <a:t> </a:t>
            </a:r>
            <a:r>
              <a:rPr dirty="0" err="1"/>
              <a:t>부족이었고</a:t>
            </a:r>
            <a:r>
              <a:rPr dirty="0"/>
              <a:t>,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비율은</a:t>
            </a:r>
            <a:r>
              <a:rPr dirty="0"/>
              <a:t> 35퍼센트였습니다. </a:t>
            </a:r>
            <a:endParaRPr lang="en-US" dirty="0"/>
          </a:p>
          <a:p>
            <a:endParaRPr lang="en-US" dirty="0"/>
          </a:p>
          <a:p>
            <a:r>
              <a:rPr lang="ko-KR" altLang="en-US" dirty="0"/>
              <a:t>이용자는 내 조건에 맞는 강좌를 찾기 어렵고 관리자는 어느 지역</a:t>
            </a:r>
            <a:r>
              <a:rPr lang="en-US" altLang="ko-KR" dirty="0"/>
              <a:t>,</a:t>
            </a:r>
            <a:r>
              <a:rPr lang="ko-KR" altLang="en-US" dirty="0"/>
              <a:t> 시설</a:t>
            </a:r>
            <a:r>
              <a:rPr lang="en-US" altLang="ko-KR" dirty="0"/>
              <a:t>,</a:t>
            </a:r>
            <a:r>
              <a:rPr lang="ko-KR" altLang="en-US" dirty="0"/>
              <a:t> 강좌에 공급을 늘릴지 </a:t>
            </a:r>
            <a:r>
              <a:rPr lang="ko-KR" altLang="en-US" dirty="0" err="1"/>
              <a:t>판단해야하는</a:t>
            </a:r>
            <a:r>
              <a:rPr lang="ko-KR" altLang="en-US" dirty="0"/>
              <a:t> 사이에서 공백이 있다고 판단했습니다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이용자 측의 수요와 스포츠이용권 관리자 분들의 공급 사이의 간극을 메꿔줄 수 있는 해결책을 생각하게 되었습니다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이 문제를 해결하고자 </a:t>
            </a:r>
            <a:r>
              <a:rPr dirty="0" err="1"/>
              <a:t>스포츠브릿지</a:t>
            </a:r>
            <a:r>
              <a:rPr lang="ko-KR" altLang="en-US" dirty="0" err="1"/>
              <a:t>를</a:t>
            </a:r>
            <a:r>
              <a:rPr lang="ko-KR" altLang="en-US" dirty="0"/>
              <a:t> 제작했습니다</a:t>
            </a:r>
            <a:r>
              <a:rPr lang="en-US" altLang="ko-KR" dirty="0"/>
              <a:t>.</a:t>
            </a:r>
            <a:endParaRPr lang="en-US" dirty="0"/>
          </a:p>
          <a:p>
            <a:endParaRPr lang="en-US" dirty="0"/>
          </a:p>
          <a:p>
            <a:r>
              <a:rPr lang="ko-KR" altLang="en-US" dirty="0"/>
              <a:t>사진에 보이시는 </a:t>
            </a:r>
            <a:r>
              <a:rPr lang="ko-KR" altLang="en-US" dirty="0" err="1"/>
              <a:t>메인페이지에서</a:t>
            </a:r>
            <a:r>
              <a:rPr lang="ko-KR" altLang="en-US" dirty="0"/>
              <a:t> </a:t>
            </a:r>
            <a:r>
              <a:rPr dirty="0" err="1"/>
              <a:t>첫</a:t>
            </a:r>
            <a:r>
              <a:rPr dirty="0"/>
              <a:t> </a:t>
            </a:r>
            <a:r>
              <a:rPr dirty="0" err="1"/>
              <a:t>화면에서</a:t>
            </a:r>
            <a:r>
              <a:rPr dirty="0"/>
              <a:t> </a:t>
            </a:r>
            <a:r>
              <a:rPr dirty="0" err="1"/>
              <a:t>관리자용과</a:t>
            </a:r>
            <a:r>
              <a:rPr dirty="0"/>
              <a:t> </a:t>
            </a:r>
            <a:r>
              <a:rPr dirty="0" err="1"/>
              <a:t>이용자용을</a:t>
            </a:r>
            <a:r>
              <a:rPr dirty="0"/>
              <a:t> </a:t>
            </a:r>
            <a:r>
              <a:rPr dirty="0" err="1"/>
              <a:t>고릅니다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 err="1"/>
              <a:t>관리자는</a:t>
            </a:r>
            <a:r>
              <a:rPr dirty="0"/>
              <a:t> </a:t>
            </a:r>
            <a:r>
              <a:rPr dirty="0" err="1"/>
              <a:t>지역</a:t>
            </a:r>
            <a:r>
              <a:rPr dirty="0"/>
              <a:t> </a:t>
            </a:r>
            <a:r>
              <a:rPr dirty="0" err="1"/>
              <a:t>현황을</a:t>
            </a:r>
            <a:r>
              <a:rPr dirty="0"/>
              <a:t> </a:t>
            </a:r>
            <a:r>
              <a:rPr dirty="0" err="1"/>
              <a:t>비교하고</a:t>
            </a:r>
            <a:r>
              <a:rPr dirty="0"/>
              <a:t> </a:t>
            </a:r>
            <a:r>
              <a:rPr dirty="0" err="1"/>
              <a:t>가맹을</a:t>
            </a:r>
            <a:r>
              <a:rPr dirty="0"/>
              <a:t> </a:t>
            </a:r>
            <a:r>
              <a:rPr dirty="0" err="1"/>
              <a:t>검토할</a:t>
            </a:r>
            <a:r>
              <a:rPr dirty="0"/>
              <a:t> </a:t>
            </a:r>
            <a:r>
              <a:rPr dirty="0" err="1"/>
              <a:t>시설을</a:t>
            </a:r>
            <a:r>
              <a:rPr dirty="0"/>
              <a:t> </a:t>
            </a:r>
            <a:r>
              <a:rPr dirty="0" err="1"/>
              <a:t>찾으며</a:t>
            </a:r>
            <a:r>
              <a:rPr dirty="0"/>
              <a:t>, </a:t>
            </a:r>
            <a:r>
              <a:rPr dirty="0" err="1"/>
              <a:t>이용자는</a:t>
            </a:r>
            <a:r>
              <a:rPr dirty="0"/>
              <a:t> </a:t>
            </a:r>
            <a:r>
              <a:rPr dirty="0" err="1"/>
              <a:t>조건에</a:t>
            </a:r>
            <a:r>
              <a:rPr dirty="0"/>
              <a:t> </a:t>
            </a:r>
            <a:r>
              <a:rPr dirty="0" err="1"/>
              <a:t>맞는</a:t>
            </a:r>
            <a:r>
              <a:rPr dirty="0"/>
              <a:t> </a:t>
            </a:r>
            <a:r>
              <a:rPr dirty="0" err="1"/>
              <a:t>강좌를</a:t>
            </a:r>
            <a:r>
              <a:rPr dirty="0"/>
              <a:t> </a:t>
            </a:r>
            <a:r>
              <a:rPr dirty="0" err="1"/>
              <a:t>찾고</a:t>
            </a:r>
            <a:r>
              <a:rPr dirty="0"/>
              <a:t> </a:t>
            </a:r>
            <a:r>
              <a:rPr dirty="0" err="1"/>
              <a:t>원하는</a:t>
            </a:r>
            <a:r>
              <a:rPr dirty="0"/>
              <a:t> </a:t>
            </a:r>
            <a:r>
              <a:rPr dirty="0" err="1"/>
              <a:t>강좌가</a:t>
            </a:r>
            <a:r>
              <a:rPr dirty="0"/>
              <a:t> </a:t>
            </a:r>
            <a:r>
              <a:rPr dirty="0" err="1"/>
              <a:t>없으면</a:t>
            </a:r>
            <a:r>
              <a:rPr dirty="0"/>
              <a:t> </a:t>
            </a:r>
            <a:r>
              <a:rPr lang="ko-KR" altLang="en-US" dirty="0"/>
              <a:t>관리자에게 요청을 보낼 수 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서비스에는</a:t>
            </a:r>
            <a:r>
              <a:rPr dirty="0"/>
              <a:t> </a:t>
            </a:r>
            <a:r>
              <a:rPr dirty="0" err="1"/>
              <a:t>국민체육진흥공단</a:t>
            </a:r>
            <a:r>
              <a:rPr dirty="0"/>
              <a:t> </a:t>
            </a:r>
            <a:r>
              <a:rPr dirty="0" err="1"/>
              <a:t>공개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10종을 </a:t>
            </a:r>
            <a:r>
              <a:rPr dirty="0" err="1"/>
              <a:t>사용했습니다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lang="ko-KR" altLang="en-US" dirty="0"/>
              <a:t>지역별 현황</a:t>
            </a:r>
            <a:r>
              <a:rPr lang="en-US" altLang="ko-KR" dirty="0"/>
              <a:t>,</a:t>
            </a:r>
            <a:r>
              <a:rPr lang="ko-KR" altLang="en-US" dirty="0"/>
              <a:t> 우선순위 계산</a:t>
            </a:r>
            <a:r>
              <a:rPr lang="en-US" altLang="ko-KR" dirty="0"/>
              <a:t>,</a:t>
            </a:r>
            <a:r>
              <a:rPr lang="ko-KR" altLang="en-US" dirty="0"/>
              <a:t> 접근성 계산</a:t>
            </a:r>
            <a:r>
              <a:rPr lang="en-US" altLang="ko-KR" dirty="0"/>
              <a:t>,</a:t>
            </a:r>
            <a:r>
              <a:rPr lang="ko-KR" altLang="en-US" dirty="0"/>
              <a:t> 강좌 탐색 등을 위해서 여러 데이터셋을 종합적으로 수집하고 활용했습니다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관리자</a:t>
            </a:r>
            <a:r>
              <a:rPr dirty="0"/>
              <a:t> </a:t>
            </a:r>
            <a:r>
              <a:rPr dirty="0" err="1"/>
              <a:t>기능입니다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lang="ko-KR" altLang="en-US" dirty="0"/>
              <a:t>전국 </a:t>
            </a:r>
            <a:r>
              <a:rPr lang="ko-KR" altLang="en-US" dirty="0" err="1"/>
              <a:t>시군구를</a:t>
            </a:r>
            <a:r>
              <a:rPr lang="ko-KR" altLang="en-US" dirty="0"/>
              <a:t> 대상자 대비 시설</a:t>
            </a:r>
            <a:r>
              <a:rPr lang="en-US" altLang="ko-KR" dirty="0"/>
              <a:t>,</a:t>
            </a:r>
            <a:r>
              <a:rPr lang="ko-KR" altLang="en-US" dirty="0"/>
              <a:t> 종목</a:t>
            </a:r>
            <a:r>
              <a:rPr lang="en-US" altLang="ko-KR" dirty="0"/>
              <a:t>,</a:t>
            </a:r>
            <a:r>
              <a:rPr lang="ko-KR" altLang="en-US" dirty="0"/>
              <a:t> 강좌 </a:t>
            </a:r>
            <a:r>
              <a:rPr lang="ko-KR" altLang="en-US" dirty="0" err="1"/>
              <a:t>수급률로</a:t>
            </a:r>
            <a:r>
              <a:rPr lang="ko-KR" altLang="en-US" dirty="0"/>
              <a:t> 비교해 먼저 살펴볼 지역을 고르는 화면입니다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  <a:p>
            <a:endParaRPr lang="en-US" dirty="0"/>
          </a:p>
          <a:p>
            <a:r>
              <a:rPr dirty="0" err="1"/>
              <a:t>시군구별로</a:t>
            </a:r>
            <a:r>
              <a:rPr dirty="0"/>
              <a:t> </a:t>
            </a:r>
            <a:r>
              <a:rPr dirty="0" err="1"/>
              <a:t>대상자</a:t>
            </a:r>
            <a:r>
              <a:rPr dirty="0"/>
              <a:t>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시설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,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, </a:t>
            </a:r>
            <a:r>
              <a:rPr dirty="0" err="1"/>
              <a:t>수급률</a:t>
            </a:r>
            <a:r>
              <a:rPr lang="ko-KR" altLang="en-US" dirty="0"/>
              <a:t> 등을 지역별로 여러 지표를 한번에</a:t>
            </a:r>
            <a:r>
              <a:rPr dirty="0"/>
              <a:t> </a:t>
            </a:r>
            <a:r>
              <a:rPr dirty="0" err="1"/>
              <a:t>비교할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지역을</a:t>
            </a:r>
            <a:r>
              <a:rPr dirty="0"/>
              <a:t> </a:t>
            </a:r>
            <a:r>
              <a:rPr dirty="0" err="1"/>
              <a:t>선택하면</a:t>
            </a:r>
            <a:r>
              <a:rPr dirty="0"/>
              <a:t> </a:t>
            </a:r>
            <a:r>
              <a:rPr dirty="0" err="1"/>
              <a:t>가맹</a:t>
            </a:r>
            <a:r>
              <a:rPr dirty="0"/>
              <a:t> </a:t>
            </a:r>
            <a:r>
              <a:rPr dirty="0" err="1"/>
              <a:t>여부를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</a:t>
            </a:r>
            <a:r>
              <a:rPr dirty="0" err="1"/>
              <a:t>시설</a:t>
            </a:r>
            <a:r>
              <a:rPr dirty="0"/>
              <a:t> </a:t>
            </a:r>
            <a:r>
              <a:rPr dirty="0" err="1"/>
              <a:t>후보를</a:t>
            </a:r>
            <a:r>
              <a:rPr dirty="0"/>
              <a:t> </a:t>
            </a:r>
            <a:r>
              <a:rPr dirty="0" err="1"/>
              <a:t>볼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 err="1"/>
              <a:t>종목</a:t>
            </a:r>
            <a:r>
              <a:rPr dirty="0"/>
              <a:t> </a:t>
            </a:r>
            <a:r>
              <a:rPr dirty="0" err="1"/>
              <a:t>적합성</a:t>
            </a:r>
            <a:r>
              <a:rPr dirty="0"/>
              <a:t>, </a:t>
            </a:r>
            <a:r>
              <a:rPr dirty="0" err="1"/>
              <a:t>안전점검</a:t>
            </a:r>
            <a:r>
              <a:rPr dirty="0"/>
              <a:t> </a:t>
            </a:r>
            <a:r>
              <a:rPr dirty="0" err="1"/>
              <a:t>결과와</a:t>
            </a:r>
            <a:r>
              <a:rPr dirty="0"/>
              <a:t> </a:t>
            </a:r>
            <a:r>
              <a:rPr dirty="0" err="1"/>
              <a:t>대중교통</a:t>
            </a:r>
            <a:r>
              <a:rPr dirty="0"/>
              <a:t> </a:t>
            </a:r>
            <a:r>
              <a:rPr dirty="0" err="1"/>
              <a:t>접근성</a:t>
            </a:r>
            <a:r>
              <a:rPr dirty="0"/>
              <a:t>, </a:t>
            </a:r>
            <a:r>
              <a:rPr dirty="0" err="1"/>
              <a:t>이용자의</a:t>
            </a:r>
            <a:r>
              <a:rPr dirty="0"/>
              <a:t> </a:t>
            </a:r>
            <a:r>
              <a:rPr dirty="0" err="1"/>
              <a:t>희망</a:t>
            </a:r>
            <a:r>
              <a:rPr dirty="0"/>
              <a:t> </a:t>
            </a:r>
            <a:r>
              <a:rPr dirty="0" err="1"/>
              <a:t>등록을</a:t>
            </a:r>
            <a:r>
              <a:rPr dirty="0"/>
              <a:t> </a:t>
            </a:r>
            <a:r>
              <a:rPr dirty="0" err="1"/>
              <a:t>참고해</a:t>
            </a:r>
            <a:r>
              <a:rPr dirty="0"/>
              <a:t> </a:t>
            </a:r>
            <a:r>
              <a:rPr dirty="0" err="1"/>
              <a:t>검토</a:t>
            </a:r>
            <a:r>
              <a:rPr dirty="0"/>
              <a:t> </a:t>
            </a:r>
            <a:r>
              <a:rPr dirty="0" err="1"/>
              <a:t>순서를</a:t>
            </a:r>
            <a:r>
              <a:rPr dirty="0"/>
              <a:t> </a:t>
            </a:r>
            <a:r>
              <a:rPr dirty="0" err="1"/>
              <a:t>정합니다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 err="1"/>
              <a:t>점수뿐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이유와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</a:t>
            </a:r>
            <a:r>
              <a:rPr dirty="0" err="1"/>
              <a:t>항목을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제공해</a:t>
            </a:r>
            <a:r>
              <a:rPr dirty="0"/>
              <a:t>, </a:t>
            </a:r>
            <a:r>
              <a:rPr dirty="0" err="1"/>
              <a:t>담당자가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시설과</a:t>
            </a:r>
            <a:r>
              <a:rPr dirty="0"/>
              <a:t> </a:t>
            </a:r>
            <a:r>
              <a:rPr dirty="0" err="1"/>
              <a:t>협의하기</a:t>
            </a:r>
            <a:r>
              <a:rPr dirty="0"/>
              <a:t> </a:t>
            </a:r>
            <a:r>
              <a:rPr dirty="0" err="1"/>
              <a:t>전에</a:t>
            </a:r>
            <a:r>
              <a:rPr dirty="0"/>
              <a:t> </a:t>
            </a:r>
            <a:r>
              <a:rPr dirty="0" err="1"/>
              <a:t>후보를</a:t>
            </a:r>
            <a:r>
              <a:rPr dirty="0"/>
              <a:t> </a:t>
            </a:r>
            <a:r>
              <a:rPr dirty="0" err="1"/>
              <a:t>정리할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있도록</a:t>
            </a:r>
            <a:r>
              <a:rPr dirty="0"/>
              <a:t> </a:t>
            </a:r>
            <a:r>
              <a:rPr dirty="0" err="1"/>
              <a:t>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데이터셋을 직접 참조해 답변하는 </a:t>
            </a:r>
            <a:r>
              <a:rPr lang="en-US" altLang="ko-KR" dirty="0"/>
              <a:t>AI</a:t>
            </a:r>
            <a:r>
              <a:rPr lang="ko-KR" altLang="en-US" dirty="0"/>
              <a:t> 에이전트 기능도 탑재하여 </a:t>
            </a:r>
            <a:r>
              <a:rPr dirty="0" err="1"/>
              <a:t>복잡한</a:t>
            </a:r>
            <a:r>
              <a:rPr dirty="0"/>
              <a:t> </a:t>
            </a:r>
            <a:r>
              <a:rPr dirty="0" err="1"/>
              <a:t>자료는</a:t>
            </a:r>
            <a:r>
              <a:rPr dirty="0"/>
              <a:t> </a:t>
            </a:r>
            <a:r>
              <a:rPr dirty="0" err="1"/>
              <a:t>문장으로</a:t>
            </a:r>
            <a:r>
              <a:rPr dirty="0"/>
              <a:t> </a:t>
            </a:r>
            <a:r>
              <a:rPr dirty="0" err="1"/>
              <a:t>질문해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</a:t>
            </a:r>
            <a:r>
              <a:rPr dirty="0" err="1"/>
              <a:t>수도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 err="1"/>
              <a:t>예를</a:t>
            </a:r>
            <a:r>
              <a:rPr dirty="0"/>
              <a:t> </a:t>
            </a:r>
            <a:r>
              <a:rPr dirty="0" err="1"/>
              <a:t>들어</a:t>
            </a:r>
            <a:r>
              <a:rPr dirty="0"/>
              <a:t>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지역의</a:t>
            </a:r>
            <a:r>
              <a:rPr dirty="0"/>
              <a:t> </a:t>
            </a:r>
            <a:r>
              <a:rPr dirty="0" err="1"/>
              <a:t>현황과</a:t>
            </a:r>
            <a:r>
              <a:rPr dirty="0"/>
              <a:t> </a:t>
            </a:r>
            <a:r>
              <a:rPr dirty="0" err="1"/>
              <a:t>가맹</a:t>
            </a:r>
            <a:r>
              <a:rPr dirty="0"/>
              <a:t> </a:t>
            </a:r>
            <a:r>
              <a:rPr dirty="0" err="1"/>
              <a:t>검토</a:t>
            </a:r>
            <a:r>
              <a:rPr dirty="0"/>
              <a:t> </a:t>
            </a:r>
            <a:r>
              <a:rPr dirty="0" err="1"/>
              <a:t>시설을</a:t>
            </a:r>
            <a:r>
              <a:rPr dirty="0"/>
              <a:t> </a:t>
            </a:r>
            <a:r>
              <a:rPr dirty="0" err="1"/>
              <a:t>질문하면</a:t>
            </a:r>
            <a:r>
              <a:rPr dirty="0"/>
              <a:t> </a:t>
            </a:r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자료를</a:t>
            </a:r>
            <a:r>
              <a:rPr dirty="0"/>
              <a:t> </a:t>
            </a:r>
            <a:r>
              <a:rPr dirty="0" err="1"/>
              <a:t>조회하고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정리합니다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 err="1"/>
              <a:t>사용한</a:t>
            </a:r>
            <a:r>
              <a:rPr dirty="0"/>
              <a:t> </a:t>
            </a:r>
            <a:r>
              <a:rPr dirty="0" err="1"/>
              <a:t>자료와</a:t>
            </a:r>
            <a:r>
              <a:rPr dirty="0"/>
              <a:t> </a:t>
            </a:r>
            <a:r>
              <a:rPr dirty="0" err="1"/>
              <a:t>조회·계산</a:t>
            </a:r>
            <a:r>
              <a:rPr dirty="0"/>
              <a:t> </a:t>
            </a:r>
            <a:r>
              <a:rPr dirty="0" err="1"/>
              <a:t>과정도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표시</a:t>
            </a:r>
            <a:r>
              <a:rPr lang="ko-KR" altLang="en-US" dirty="0"/>
              <a:t>하여</a:t>
            </a:r>
            <a:r>
              <a:rPr dirty="0"/>
              <a:t>, </a:t>
            </a:r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확인에서</a:t>
            </a:r>
            <a:r>
              <a:rPr dirty="0"/>
              <a:t> </a:t>
            </a:r>
            <a:r>
              <a:rPr dirty="0" err="1"/>
              <a:t>검토까지</a:t>
            </a:r>
            <a:r>
              <a:rPr dirty="0"/>
              <a:t> </a:t>
            </a:r>
            <a:r>
              <a:rPr dirty="0" err="1"/>
              <a:t>이어지는</a:t>
            </a:r>
            <a:r>
              <a:rPr dirty="0"/>
              <a:t> </a:t>
            </a:r>
            <a:r>
              <a:rPr dirty="0" err="1"/>
              <a:t>흐름을</a:t>
            </a:r>
            <a:r>
              <a:rPr dirty="0"/>
              <a:t> </a:t>
            </a:r>
            <a:r>
              <a:rPr dirty="0" err="1"/>
              <a:t>구성</a:t>
            </a:r>
            <a:r>
              <a:rPr lang="ko-KR" altLang="en-US" dirty="0"/>
              <a:t>하도록 했습니다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다음은</a:t>
            </a:r>
            <a:r>
              <a:rPr dirty="0"/>
              <a:t> </a:t>
            </a:r>
            <a:r>
              <a:rPr dirty="0" err="1"/>
              <a:t>이용자</a:t>
            </a:r>
            <a:r>
              <a:rPr dirty="0"/>
              <a:t> </a:t>
            </a:r>
            <a:r>
              <a:rPr dirty="0" err="1"/>
              <a:t>기능입니다</a:t>
            </a:r>
            <a:r>
              <a:rPr dirty="0"/>
              <a:t>. </a:t>
            </a:r>
            <a:r>
              <a:rPr dirty="0" err="1"/>
              <a:t>지역과</a:t>
            </a:r>
            <a:r>
              <a:rPr dirty="0"/>
              <a:t> </a:t>
            </a:r>
            <a:r>
              <a:rPr dirty="0" err="1"/>
              <a:t>희망</a:t>
            </a:r>
            <a:r>
              <a:rPr dirty="0"/>
              <a:t> </a:t>
            </a:r>
            <a:r>
              <a:rPr dirty="0" err="1"/>
              <a:t>종목</a:t>
            </a:r>
            <a:r>
              <a:rPr dirty="0"/>
              <a:t>,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, </a:t>
            </a:r>
            <a:r>
              <a:rPr dirty="0" err="1"/>
              <a:t>예산을</a:t>
            </a:r>
            <a:r>
              <a:rPr dirty="0"/>
              <a:t> </a:t>
            </a:r>
            <a:r>
              <a:rPr dirty="0" err="1"/>
              <a:t>입력하면</a:t>
            </a:r>
            <a:r>
              <a:rPr dirty="0"/>
              <a:t> </a:t>
            </a:r>
            <a:r>
              <a:rPr dirty="0" err="1"/>
              <a:t>강좌를</a:t>
            </a:r>
            <a:r>
              <a:rPr dirty="0"/>
              <a:t> </a:t>
            </a:r>
            <a:r>
              <a:rPr dirty="0" err="1"/>
              <a:t>검색할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endParaRPr lang="en-US" dirty="0"/>
          </a:p>
          <a:p>
            <a:endParaRPr lang="en-US" dirty="0"/>
          </a:p>
          <a:p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결과가</a:t>
            </a:r>
            <a:r>
              <a:rPr dirty="0"/>
              <a:t> </a:t>
            </a:r>
            <a:r>
              <a:rPr dirty="0" err="1"/>
              <a:t>없을</a:t>
            </a:r>
            <a:r>
              <a:rPr dirty="0"/>
              <a:t> </a:t>
            </a:r>
            <a:r>
              <a:rPr dirty="0" err="1"/>
              <a:t>때는</a:t>
            </a:r>
            <a:r>
              <a:rPr dirty="0"/>
              <a:t> </a:t>
            </a:r>
            <a:r>
              <a:rPr dirty="0" err="1"/>
              <a:t>단순히</a:t>
            </a:r>
            <a:r>
              <a:rPr dirty="0"/>
              <a:t> </a:t>
            </a:r>
            <a:r>
              <a:rPr dirty="0" err="1"/>
              <a:t>없다고</a:t>
            </a:r>
            <a:r>
              <a:rPr dirty="0"/>
              <a:t> </a:t>
            </a:r>
            <a:r>
              <a:rPr dirty="0" err="1"/>
              <a:t>끝내지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, </a:t>
            </a:r>
            <a:r>
              <a:rPr dirty="0" err="1"/>
              <a:t>시간이나</a:t>
            </a:r>
            <a:r>
              <a:rPr dirty="0"/>
              <a:t> </a:t>
            </a:r>
            <a:r>
              <a:rPr dirty="0" err="1"/>
              <a:t>요일을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조정하면</a:t>
            </a:r>
            <a:r>
              <a:rPr dirty="0"/>
              <a:t> </a:t>
            </a:r>
            <a:r>
              <a:rPr dirty="0" err="1"/>
              <a:t>선택지가</a:t>
            </a:r>
            <a:r>
              <a:rPr dirty="0"/>
              <a:t> </a:t>
            </a:r>
            <a:r>
              <a:rPr dirty="0" err="1"/>
              <a:t>늘어나는지</a:t>
            </a:r>
            <a:r>
              <a:rPr lang="ko-KR" altLang="en-US" dirty="0"/>
              <a:t> 조회 가능하도록 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지역</a:t>
            </a:r>
            <a:r>
              <a:rPr dirty="0"/>
              <a:t> </a:t>
            </a:r>
            <a:r>
              <a:rPr dirty="0" err="1"/>
              <a:t>현황에서는</a:t>
            </a:r>
            <a:r>
              <a:rPr dirty="0"/>
              <a:t> </a:t>
            </a:r>
            <a:r>
              <a:rPr dirty="0" err="1"/>
              <a:t>가맹시설과</a:t>
            </a:r>
            <a:r>
              <a:rPr dirty="0"/>
              <a:t> </a:t>
            </a:r>
            <a:r>
              <a:rPr dirty="0" err="1"/>
              <a:t>강좌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, </a:t>
            </a:r>
            <a:r>
              <a:rPr dirty="0" err="1"/>
              <a:t>종목과</a:t>
            </a:r>
            <a:r>
              <a:rPr dirty="0"/>
              <a:t> </a:t>
            </a:r>
            <a:r>
              <a:rPr dirty="0" err="1"/>
              <a:t>시간대의</a:t>
            </a:r>
            <a:r>
              <a:rPr dirty="0"/>
              <a:t> </a:t>
            </a:r>
            <a:r>
              <a:rPr dirty="0" err="1"/>
              <a:t>분포를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시설</a:t>
            </a:r>
            <a:r>
              <a:rPr dirty="0"/>
              <a:t> </a:t>
            </a:r>
            <a:r>
              <a:rPr dirty="0" err="1"/>
              <a:t>검색에서는</a:t>
            </a:r>
            <a:r>
              <a:rPr dirty="0"/>
              <a:t> </a:t>
            </a:r>
            <a:r>
              <a:rPr dirty="0" err="1"/>
              <a:t>종목이나</a:t>
            </a:r>
            <a:r>
              <a:rPr dirty="0"/>
              <a:t> </a:t>
            </a:r>
            <a:r>
              <a:rPr dirty="0" err="1"/>
              <a:t>시설명으로</a:t>
            </a:r>
            <a:r>
              <a:rPr dirty="0"/>
              <a:t> </a:t>
            </a:r>
            <a:r>
              <a:rPr dirty="0" err="1"/>
              <a:t>가맹시설을</a:t>
            </a:r>
            <a:r>
              <a:rPr dirty="0"/>
              <a:t> </a:t>
            </a:r>
            <a:r>
              <a:rPr dirty="0" err="1"/>
              <a:t>찾고</a:t>
            </a:r>
            <a:r>
              <a:rPr dirty="0"/>
              <a:t> </a:t>
            </a:r>
            <a:r>
              <a:rPr dirty="0" err="1"/>
              <a:t>강좌</a:t>
            </a:r>
            <a:r>
              <a:rPr dirty="0"/>
              <a:t> </a:t>
            </a:r>
            <a:r>
              <a:rPr dirty="0" err="1"/>
              <a:t>정보를</a:t>
            </a:r>
            <a:r>
              <a:rPr dirty="0"/>
              <a:t> </a:t>
            </a:r>
            <a:r>
              <a:rPr dirty="0" err="1"/>
              <a:t>살펴볼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원하는</a:t>
            </a:r>
            <a:r>
              <a:rPr dirty="0"/>
              <a:t> </a:t>
            </a:r>
            <a:r>
              <a:rPr dirty="0" err="1"/>
              <a:t>강좌가</a:t>
            </a:r>
            <a:r>
              <a:rPr dirty="0"/>
              <a:t> </a:t>
            </a:r>
            <a:r>
              <a:rPr dirty="0" err="1"/>
              <a:t>없</a:t>
            </a:r>
            <a:r>
              <a:rPr lang="ko-KR" altLang="en-US" dirty="0"/>
              <a:t>는</a:t>
            </a:r>
            <a:r>
              <a:rPr dirty="0"/>
              <a:t> </a:t>
            </a:r>
            <a:r>
              <a:rPr dirty="0" err="1"/>
              <a:t>경우에는</a:t>
            </a:r>
            <a:r>
              <a:rPr dirty="0"/>
              <a:t> </a:t>
            </a:r>
            <a:r>
              <a:rPr dirty="0" err="1"/>
              <a:t>희망</a:t>
            </a:r>
            <a:r>
              <a:rPr dirty="0"/>
              <a:t> </a:t>
            </a:r>
            <a:r>
              <a:rPr dirty="0" err="1"/>
              <a:t>종목과</a:t>
            </a:r>
            <a:r>
              <a:rPr dirty="0"/>
              <a:t> </a:t>
            </a:r>
            <a:r>
              <a:rPr dirty="0" err="1"/>
              <a:t>시간대를</a:t>
            </a:r>
            <a:r>
              <a:rPr dirty="0"/>
              <a:t> </a:t>
            </a:r>
            <a:r>
              <a:rPr dirty="0" err="1"/>
              <a:t>등록</a:t>
            </a:r>
            <a:r>
              <a:rPr lang="ko-KR" altLang="en-US" dirty="0"/>
              <a:t>해 관리자가 검토할 수 있도록 요청을 보낼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04:37–04:55 · 18초</a:t>
            </a:r>
          </a:p>
          <a:p>
            <a:endParaRPr/>
          </a:p>
          <a:p>
            <a:r>
              <a:t>스포츠브릿지는 이용자의 강좌 검색을 돕고, 찾지 못한 강좌와 시설에 대한 의견을 지역의 공급 검토 자료로 연결합니다. 공개된 시설 정보를 실제 이용 조건과 함께 확인할 수 있는 서비스로 발전시키겠습니다.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웹사이트 시연</a:t>
            </a:r>
          </a:p>
          <a:p/>
          <a:p>
            <a:r>
              <a:t>이제 실제 웹사이트에서 관리자 기능과 이용자 기능을 차례로 보여드리겠습니다. (화면이나 버튼을 클릭하면 브라우저에서 바로 열립니다)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portsbridge.o-r.kr" TargetMode="Externa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7C8DB0"/>
                </a:solidFill>
                <a:latin typeface="Noto Sans CJK KR"/>
              </a:rPr>
              <a:t>SPORTSBRIDGE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C8DB0"/>
                </a:solidFill>
                <a:latin typeface="Noto Sans CJK KR"/>
              </a:rPr>
              <a:t>01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8FB0FF"/>
                </a:solidFill>
                <a:latin typeface="Noto Sans CJK KR"/>
              </a:rPr>
              <a:t>2026 국민체육진흥공단 공공데이터 활용 경진대회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Noto Sans CJK KR"/>
              </a:rPr>
              <a:t>스포츠브릿지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D5DEF5"/>
                </a:solidFill>
                <a:latin typeface="Noto Sans CJK KR"/>
              </a:rPr>
              <a:t>스포츠 강좌이용권과 지역 공급을 연결하는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5486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Noto Sans CJK KR"/>
              </a:rPr>
              <a:t>문요준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AFC2F5"/>
                </a:solidFill>
                <a:latin typeface="Noto Sans CJK KR"/>
              </a:rPr>
              <a:t>포항공과대학교 컴퓨터공학과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1">
                <a:solidFill>
                  <a:srgbClr val="8FB0FF"/>
                </a:solidFill>
                <a:latin typeface="Noto Sans CJK KR"/>
              </a:rPr>
              <a:t>https://sportsbridge.o-r.kr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서비스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3701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스포츠 강좌이용권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39" y="1600200"/>
            <a:ext cx="5284721" cy="1325880"/>
          </a:xfrm>
          <a:prstGeom prst="roundRect">
            <a:avLst>
              <a:gd name="adj" fmla="val 1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957050"/>
            <a:ext cx="5815584" cy="6338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 dirty="0" err="1">
                <a:solidFill>
                  <a:srgbClr val="152238"/>
                </a:solidFill>
                <a:latin typeface="Noto Sans CJK KR"/>
              </a:rPr>
              <a:t>저소득층</a:t>
            </a:r>
            <a:r>
              <a:rPr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유·청소년과</a:t>
            </a:r>
            <a:r>
              <a:rPr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장애인</a:t>
            </a:r>
            <a:r>
              <a:rPr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등의</a:t>
            </a:r>
            <a:endParaRPr sz="1600" b="1" dirty="0">
              <a:solidFill>
                <a:srgbClr val="152238"/>
              </a:solidFill>
              <a:latin typeface="Noto Sans CJK KR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 dirty="0" err="1">
                <a:solidFill>
                  <a:srgbClr val="152238"/>
                </a:solidFill>
                <a:latin typeface="Noto Sans CJK KR"/>
              </a:rPr>
              <a:t>스포츠</a:t>
            </a:r>
            <a:r>
              <a:rPr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강좌</a:t>
            </a:r>
            <a:r>
              <a:rPr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수강료를</a:t>
            </a:r>
            <a:r>
              <a:rPr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지원하는</a:t>
            </a:r>
            <a:r>
              <a:rPr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국민체육진흥공단</a:t>
            </a:r>
            <a:r>
              <a:rPr lang="ko-KR" altLang="en-US" sz="16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52238"/>
                </a:solidFill>
                <a:latin typeface="Noto Sans CJK KR"/>
              </a:rPr>
              <a:t>사업</a:t>
            </a:r>
            <a:endParaRPr sz="1600" b="1" dirty="0">
              <a:solidFill>
                <a:srgbClr val="152238"/>
              </a:solidFill>
              <a:latin typeface="Noto Sans CJK KR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36976"/>
            <a:ext cx="4907280" cy="52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64748B"/>
                </a:solidFill>
                <a:latin typeface="Noto Sans CJK KR"/>
              </a:rPr>
              <a:t>결제</a:t>
            </a:r>
            <a:endParaRPr sz="1200" b="1" dirty="0">
              <a:solidFill>
                <a:srgbClr val="64748B"/>
              </a:solidFill>
              <a:latin typeface="Noto Sans CJK KR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152238"/>
                </a:solidFill>
                <a:latin typeface="Noto Sans CJK KR"/>
              </a:rPr>
              <a:t>지원</a:t>
            </a:r>
            <a:r>
              <a:rPr sz="1500" b="0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152238"/>
                </a:solidFill>
                <a:latin typeface="Noto Sans CJK KR"/>
              </a:rPr>
              <a:t>대상자는</a:t>
            </a:r>
            <a:r>
              <a:rPr sz="1500" b="0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152238"/>
                </a:solidFill>
                <a:latin typeface="Noto Sans CJK KR"/>
              </a:rPr>
              <a:t>가맹시설의</a:t>
            </a:r>
            <a:r>
              <a:rPr sz="1500" b="0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152238"/>
                </a:solidFill>
                <a:latin typeface="Noto Sans CJK KR"/>
              </a:rPr>
              <a:t>강좌를</a:t>
            </a:r>
            <a:r>
              <a:rPr sz="1500" b="0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152238"/>
                </a:solidFill>
                <a:latin typeface="Noto Sans CJK KR"/>
              </a:rPr>
              <a:t>결제해</a:t>
            </a:r>
            <a:r>
              <a:rPr sz="1500" b="0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152238"/>
                </a:solidFill>
                <a:latin typeface="Noto Sans CJK KR"/>
              </a:rPr>
              <a:t>이용합니다</a:t>
            </a:r>
            <a:r>
              <a:rPr sz="1500" b="0" dirty="0">
                <a:solidFill>
                  <a:srgbClr val="152238"/>
                </a:solidFill>
                <a:latin typeface="Noto Sans CJK KR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88536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2F5BE0"/>
                </a:solidFill>
                <a:latin typeface="Noto Sans CJK KR"/>
              </a:rPr>
              <a:t>조건</a:t>
            </a:r>
            <a:endParaRPr sz="1200" b="1" dirty="0">
              <a:solidFill>
                <a:srgbClr val="2F5BE0"/>
              </a:solidFill>
              <a:latin typeface="Noto Sans CJK KR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1" dirty="0" err="1">
                <a:solidFill>
                  <a:srgbClr val="152238"/>
                </a:solidFill>
                <a:latin typeface="Noto Sans CJK KR"/>
              </a:rPr>
              <a:t>실제</a:t>
            </a:r>
            <a:r>
              <a:rPr sz="15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1" dirty="0" err="1">
                <a:solidFill>
                  <a:srgbClr val="152238"/>
                </a:solidFill>
                <a:latin typeface="Noto Sans CJK KR"/>
              </a:rPr>
              <a:t>참여를</a:t>
            </a:r>
            <a:r>
              <a:rPr sz="15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1" dirty="0" err="1">
                <a:solidFill>
                  <a:srgbClr val="152238"/>
                </a:solidFill>
                <a:latin typeface="Noto Sans CJK KR"/>
              </a:rPr>
              <a:t>위해서는</a:t>
            </a:r>
            <a:r>
              <a:rPr sz="15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1" dirty="0" err="1">
                <a:solidFill>
                  <a:srgbClr val="152238"/>
                </a:solidFill>
                <a:latin typeface="Noto Sans CJK KR"/>
              </a:rPr>
              <a:t>이용</a:t>
            </a:r>
            <a:r>
              <a:rPr sz="15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1" dirty="0" err="1">
                <a:solidFill>
                  <a:srgbClr val="152238"/>
                </a:solidFill>
                <a:latin typeface="Noto Sans CJK KR"/>
              </a:rPr>
              <a:t>가능한</a:t>
            </a:r>
            <a:r>
              <a:rPr sz="15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1" dirty="0" err="1">
                <a:solidFill>
                  <a:srgbClr val="152238"/>
                </a:solidFill>
                <a:latin typeface="Noto Sans CJK KR"/>
              </a:rPr>
              <a:t>시설·종목·시간이</a:t>
            </a:r>
            <a:r>
              <a:rPr sz="15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500" b="1" dirty="0" err="1">
                <a:solidFill>
                  <a:srgbClr val="152238"/>
                </a:solidFill>
                <a:latin typeface="Noto Sans CJK KR"/>
              </a:rPr>
              <a:t>필요합니다</a:t>
            </a:r>
            <a:r>
              <a:rPr sz="1500" b="1" dirty="0">
                <a:solidFill>
                  <a:srgbClr val="152238"/>
                </a:solidFill>
                <a:latin typeface="Noto Sans CJK KR"/>
              </a:rPr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49D3BF3-73C5-F6CA-E1D8-F662836F4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640" y="950976"/>
            <a:ext cx="4663441" cy="52683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서비스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3701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479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 dirty="0" err="1">
                <a:solidFill>
                  <a:srgbClr val="152238"/>
                </a:solidFill>
                <a:latin typeface="Noto Sans CJK KR"/>
              </a:rPr>
              <a:t>이용시설</a:t>
            </a:r>
            <a:r>
              <a:rPr sz="28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2800" b="1" dirty="0" err="1">
                <a:solidFill>
                  <a:srgbClr val="152238"/>
                </a:solidFill>
                <a:latin typeface="Noto Sans CJK KR"/>
              </a:rPr>
              <a:t>부족으로</a:t>
            </a:r>
            <a:r>
              <a:rPr sz="28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lang="ko-KR" altLang="en-US" sz="2800" b="1" dirty="0">
                <a:solidFill>
                  <a:srgbClr val="152238"/>
                </a:solidFill>
                <a:latin typeface="Noto Sans CJK KR"/>
              </a:rPr>
              <a:t>강좌이용권 </a:t>
            </a:r>
            <a:r>
              <a:rPr lang="ko-KR" altLang="en-US" sz="2800" b="1" dirty="0" err="1">
                <a:solidFill>
                  <a:srgbClr val="152238"/>
                </a:solidFill>
                <a:latin typeface="Noto Sans CJK KR"/>
              </a:rPr>
              <a:t>미소진</a:t>
            </a:r>
            <a:endParaRPr sz="2800" b="1" dirty="0">
              <a:solidFill>
                <a:srgbClr val="152238"/>
              </a:solidFill>
              <a:latin typeface="Noto Sans CJK KR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Noto Sans CJK KR"/>
              </a:rPr>
              <a:t>35.0%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4389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AFC2F5"/>
                </a:solidFill>
                <a:latin typeface="Noto Sans CJK KR"/>
              </a:rPr>
              <a:t>지원기간 미소진 사유 1위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Noto Sans CJK KR"/>
              </a:rPr>
              <a:t>‘이용시설 부족’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292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8FA3CF"/>
                </a:solidFill>
                <a:latin typeface="Noto Sans CJK KR"/>
              </a:rPr>
              <a:t>2024년 스포츠 강좌이용권 만족도 조사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83080"/>
            <a:ext cx="5486400" cy="205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dirty="0" err="1">
                <a:solidFill>
                  <a:srgbClr val="2F5BE0"/>
                </a:solidFill>
                <a:latin typeface="Noto Sans CJK KR"/>
              </a:rPr>
              <a:t>필요한</a:t>
            </a:r>
            <a:r>
              <a:rPr sz="1200" b="1" dirty="0">
                <a:solidFill>
                  <a:srgbClr val="2F5BE0"/>
                </a:solidFill>
                <a:latin typeface="Noto Sans CJK KR"/>
              </a:rPr>
              <a:t> </a:t>
            </a:r>
            <a:r>
              <a:rPr sz="1200" b="1" dirty="0" err="1">
                <a:solidFill>
                  <a:srgbClr val="2F5BE0"/>
                </a:solidFill>
                <a:latin typeface="Noto Sans CJK KR"/>
              </a:rPr>
              <a:t>것</a:t>
            </a:r>
            <a:endParaRPr sz="1200" b="1" dirty="0">
              <a:solidFill>
                <a:srgbClr val="2F5BE0"/>
              </a:solidFill>
              <a:latin typeface="Noto Sans CJK KR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35040" y="2240280"/>
            <a:ext cx="5605272" cy="13716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09360" y="2670048"/>
            <a:ext cx="512064" cy="51206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240280"/>
            <a:ext cx="44348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2F5BE0"/>
                </a:solidFill>
                <a:latin typeface="Noto Sans CJK KR"/>
              </a:rPr>
              <a:t>이용자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152238"/>
                </a:solidFill>
                <a:latin typeface="Noto Sans CJK KR"/>
              </a:rPr>
              <a:t>내 조건에 맞는 강좌를 찾기 어려움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840480"/>
            <a:ext cx="5605272" cy="13716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09360" y="4270248"/>
            <a:ext cx="512064" cy="512064"/>
          </a:xfrm>
          <a:prstGeom prst="ellipse">
            <a:avLst/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840480"/>
            <a:ext cx="44348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64748B"/>
                </a:solidFill>
                <a:latin typeface="Noto Sans CJK KR"/>
              </a:rPr>
              <a:t>관리자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152238"/>
                </a:solidFill>
                <a:latin typeface="Noto Sans CJK KR"/>
              </a:rPr>
              <a:t>어느 지역·시설·강좌부터 공급을 늘릴지 판단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Noto Sans CJK KR"/>
              </a:rPr>
              <a:t>출처: 국회예산정책처(2025.10), 보고서 p.184 · 원자료: 국민체육진흥공단 2024년도 만족도 조사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서비스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3701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04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479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 dirty="0" err="1">
                <a:solidFill>
                  <a:srgbClr val="152238"/>
                </a:solidFill>
                <a:latin typeface="Noto Sans CJK KR"/>
              </a:rPr>
              <a:t>스포츠브릿지</a:t>
            </a:r>
            <a:r>
              <a:rPr lang="ko-KR" altLang="en-US" sz="28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lang="en-US" altLang="ko-KR" sz="2800" b="1" dirty="0">
                <a:solidFill>
                  <a:srgbClr val="152238"/>
                </a:solidFill>
                <a:latin typeface="Noto Sans CJK KR"/>
              </a:rPr>
              <a:t>(</a:t>
            </a:r>
            <a:r>
              <a:rPr lang="en-US" altLang="ko-KR" sz="2800" b="1" dirty="0" err="1">
                <a:solidFill>
                  <a:srgbClr val="152238"/>
                </a:solidFill>
                <a:latin typeface="Noto Sans CJK KR"/>
              </a:rPr>
              <a:t>SportsBridge</a:t>
            </a:r>
            <a:r>
              <a:rPr lang="en-US" altLang="ko-KR" sz="2800" b="1" dirty="0">
                <a:solidFill>
                  <a:srgbClr val="152238"/>
                </a:solidFill>
                <a:latin typeface="Noto Sans CJK KR"/>
              </a:rPr>
              <a:t>)</a:t>
            </a:r>
            <a:endParaRPr sz="2800" b="1" dirty="0">
              <a:solidFill>
                <a:srgbClr val="152238"/>
              </a:solidFill>
              <a:latin typeface="Noto Sans CJK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380423"/>
            <a:ext cx="10271455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공단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공공데이터로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이용자의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강좌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탐색과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관리자의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공급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검토를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연결하는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웹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서비스</a:t>
            </a:r>
            <a:endParaRPr sz="1500" b="0" dirty="0">
              <a:solidFill>
                <a:srgbClr val="334155"/>
              </a:solidFill>
              <a:latin typeface="Noto Sans CJK KR"/>
            </a:endParaRPr>
          </a:p>
        </p:txBody>
      </p:sp>
      <p:pic>
        <p:nvPicPr>
          <p:cNvPr id="13" name="Picture 12" descr="1_메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229600" y="2103120"/>
            <a:ext cx="3410712" cy="118872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58200" y="23317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233172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관리자용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724912"/>
            <a:ext cx="2999232" cy="480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 dirty="0" err="1">
                <a:solidFill>
                  <a:srgbClr val="152238"/>
                </a:solidFill>
                <a:latin typeface="Noto Sans CJK KR"/>
              </a:rPr>
              <a:t>지역</a:t>
            </a:r>
            <a:r>
              <a:rPr sz="135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350" b="1" dirty="0" err="1">
                <a:solidFill>
                  <a:srgbClr val="152238"/>
                </a:solidFill>
                <a:latin typeface="Noto Sans CJK KR"/>
              </a:rPr>
              <a:t>현황</a:t>
            </a:r>
            <a:r>
              <a:rPr sz="135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350" b="1" dirty="0" err="1">
                <a:solidFill>
                  <a:srgbClr val="152238"/>
                </a:solidFill>
                <a:latin typeface="Noto Sans CJK KR"/>
              </a:rPr>
              <a:t>비교</a:t>
            </a:r>
            <a:r>
              <a:rPr sz="1350" b="1" dirty="0">
                <a:solidFill>
                  <a:srgbClr val="152238"/>
                </a:solidFill>
                <a:latin typeface="Noto Sans CJK KR"/>
              </a:rPr>
              <a:t> · </a:t>
            </a:r>
            <a:r>
              <a:rPr sz="1350" b="1" dirty="0" err="1">
                <a:solidFill>
                  <a:srgbClr val="152238"/>
                </a:solidFill>
                <a:latin typeface="Noto Sans CJK KR"/>
              </a:rPr>
              <a:t>가맹</a:t>
            </a:r>
            <a:r>
              <a:rPr sz="135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350" b="1" dirty="0" err="1">
                <a:solidFill>
                  <a:srgbClr val="152238"/>
                </a:solidFill>
                <a:latin typeface="Noto Sans CJK KR"/>
              </a:rPr>
              <a:t>검토</a:t>
            </a:r>
            <a:r>
              <a:rPr sz="135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1350" b="1" dirty="0" err="1">
                <a:solidFill>
                  <a:srgbClr val="152238"/>
                </a:solidFill>
                <a:latin typeface="Noto Sans CJK KR"/>
              </a:rPr>
              <a:t>시설</a:t>
            </a:r>
            <a:endParaRPr sz="1350" b="1" dirty="0">
              <a:solidFill>
                <a:srgbClr val="152238"/>
              </a:solidFill>
              <a:latin typeface="Noto Sans CJK KR"/>
            </a:endParaRPr>
          </a:p>
          <a:p>
            <a:pPr>
              <a:lnSpc>
                <a:spcPct val="120000"/>
              </a:lnSpc>
            </a:pPr>
            <a:r>
              <a:rPr lang="ko-KR" altLang="en-US" sz="1350" b="1" dirty="0">
                <a:solidFill>
                  <a:srgbClr val="152238"/>
                </a:solidFill>
                <a:latin typeface="Noto Sans CJK KR"/>
              </a:rPr>
              <a:t>지원 방안 검토 </a:t>
            </a:r>
            <a:r>
              <a:rPr lang="en-US" altLang="ko-KR" sz="1350" b="1" dirty="0">
                <a:solidFill>
                  <a:srgbClr val="152238"/>
                </a:solidFill>
                <a:latin typeface="Noto Sans CJK KR"/>
              </a:rPr>
              <a:t>· </a:t>
            </a:r>
            <a:r>
              <a:rPr sz="1350" b="1" dirty="0" err="1">
                <a:solidFill>
                  <a:srgbClr val="152238"/>
                </a:solidFill>
                <a:latin typeface="Noto Sans CJK KR"/>
              </a:rPr>
              <a:t>질문</a:t>
            </a:r>
            <a:r>
              <a:rPr sz="135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lang="ko-KR" altLang="en-US" sz="1350" b="1" dirty="0">
                <a:solidFill>
                  <a:srgbClr val="152238"/>
                </a:solidFill>
                <a:latin typeface="Noto Sans CJK KR"/>
              </a:rPr>
              <a:t>에이전트</a:t>
            </a:r>
            <a:endParaRPr sz="1350" b="1" dirty="0">
              <a:solidFill>
                <a:srgbClr val="152238"/>
              </a:solidFill>
              <a:latin typeface="Noto Sans CJK KR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0" y="3584448"/>
            <a:ext cx="3410712" cy="118872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58200" y="3813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3813048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이용자용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206240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152238"/>
                </a:solidFill>
                <a:latin typeface="Noto Sans CJK KR"/>
              </a:rPr>
              <a:t>강좌 찾기 · 지역 현황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152238"/>
                </a:solidFill>
                <a:latin typeface="Noto Sans CJK KR"/>
              </a:rPr>
              <a:t>시설 검색 · 희망 등록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065776"/>
            <a:ext cx="3410712" cy="914400"/>
          </a:xfrm>
          <a:prstGeom prst="roundRect">
            <a:avLst>
              <a:gd name="adj" fmla="val 12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5065776"/>
            <a:ext cx="2999232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>
                <a:solidFill>
                  <a:srgbClr val="2F5BE0"/>
                </a:solidFill>
                <a:latin typeface="Noto Sans CJK KR"/>
              </a:rPr>
              <a:t>이용자의 희망 등록</a:t>
            </a:r>
            <a:r>
              <a:rPr sz="1350" b="0">
                <a:solidFill>
                  <a:srgbClr val="334155"/>
                </a:solidFill>
                <a:latin typeface="Noto Sans CJK KR"/>
              </a:rPr>
              <a:t>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334155"/>
                </a:solidFill>
                <a:latin typeface="Noto Sans CJK KR"/>
              </a:rPr>
              <a:t>관리자의 </a:t>
            </a:r>
            <a:r>
              <a:rPr sz="1350" b="1">
                <a:solidFill>
                  <a:srgbClr val="152238"/>
                </a:solidFill>
                <a:latin typeface="Noto Sans CJK KR"/>
              </a:rPr>
              <a:t>가맹 검토 자료</a:t>
            </a:r>
            <a:r>
              <a:rPr sz="1350" b="0">
                <a:solidFill>
                  <a:srgbClr val="334155"/>
                </a:solidFill>
                <a:latin typeface="Noto Sans CJK KR"/>
              </a:rPr>
              <a:t>로 연결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서비스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3701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05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사용 데이터셋 10종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72768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572768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572768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지역별 스포츠 강좌이용권 활용정보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대상자·수급자·지역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50591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450591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50591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스포츠 강좌이용권 시설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가맹시설 위치·종목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28415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328415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28415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스포츠 강좌이용권 이용현황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월별 신청·수강료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스포츠 강좌이용권 이용시설 강좌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강좌명·시간표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84064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084064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084064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전국체육시설현황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가맹 검토 시설 후보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1572768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2" y="1572768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1572768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전국공공체육시설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공공시설 정보 보완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2450591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2" y="2450591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2450591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개방학교 체육시설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학교 운동 공간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3328415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3328415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3328415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체육시설 안전점검정보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시설 안전등급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4206240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28232" y="4206240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4206240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스포츠 강좌이용권시설 인접 대중교통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가맹시설 접근성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5084064"/>
            <a:ext cx="5440680" cy="74980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232" y="5084064"/>
            <a:ext cx="5486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2F5BE0"/>
                </a:solidFill>
                <a:latin typeface="Noto Sans CJK KR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5084064"/>
            <a:ext cx="44348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152238"/>
                </a:solidFill>
                <a:latin typeface="Noto Sans CJK KR"/>
              </a:rPr>
              <a:t>체육시설 인접 대중교통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200" b="0">
                <a:solidFill>
                  <a:srgbClr val="64748B"/>
                </a:solidFill>
                <a:latin typeface="Noto Sans CJK KR"/>
              </a:rPr>
              <a:t>검토 시설 접근성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0350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Noto Sans CJK KR"/>
              </a:rPr>
              <a:t>출처: 국민체육진흥공단 · 문화빅데이터플랫폼 공개 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01  관리자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06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시군구별 시설·강좌 현황 비교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533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353312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335024"/>
            <a:ext cx="10271455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Noto Sans CJK KR"/>
              </a:rPr>
              <a:t>전국 시군구를 대상자 대비 시설·종목·저녁 강좌·수급률로 비교해 먼저 살펴볼 지역을 고르는 화면</a:t>
            </a:r>
          </a:p>
        </p:txBody>
      </p:sp>
      <p:pic>
        <p:nvPicPr>
          <p:cNvPr id="13" name="Picture 12" descr="2_현황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103120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2F5BE0"/>
                </a:solidFill>
                <a:latin typeface="Noto Sans CJK KR"/>
              </a:rPr>
              <a:t>비교할 지표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42032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2679191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542032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대상자 대비 시설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328415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3465575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328415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운영 종목 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114800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30768" y="4251960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114800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저녁 강좌 비율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901184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30768" y="5038344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901184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수급률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01  관리자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07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가맹 검토 시설의 우선순위와 근거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533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353312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335024"/>
            <a:ext cx="10271455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Noto Sans CJK KR"/>
              </a:rPr>
              <a:t>아직 가맹되지 않은 지역 체육시설을 근거와 함께 점수순으로 보여주어 먼저 접촉할 곳을 정하는 화면</a:t>
            </a:r>
          </a:p>
        </p:txBody>
      </p:sp>
      <p:pic>
        <p:nvPicPr>
          <p:cNvPr id="13" name="Picture 12" descr="3_가맹검토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103120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2F5BE0"/>
                </a:solidFill>
                <a:latin typeface="Noto Sans CJK KR"/>
              </a:rPr>
              <a:t>시설별 검토 정보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42032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2679191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542032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종목 적합성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328415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3465575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328415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안전점검 결과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114800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30768" y="4251960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114800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대중교통 접근성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901184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30768" y="5038344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901184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이용자 희망 등록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705856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2F5BE0"/>
                </a:solidFill>
                <a:latin typeface="Noto Sans CJK KR"/>
              </a:rPr>
              <a:t>ⓘ  </a:t>
            </a:r>
            <a:r>
              <a:rPr sz="1150" b="0">
                <a:solidFill>
                  <a:srgbClr val="64748B"/>
                </a:solidFill>
                <a:latin typeface="Noto Sans CJK KR"/>
              </a:rPr>
              <a:t>가맹 여부는 확인 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01  관리자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0569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관리자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08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479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2800" b="1" dirty="0">
                <a:solidFill>
                  <a:srgbClr val="152238"/>
                </a:solidFill>
                <a:latin typeface="Noto Sans CJK KR"/>
              </a:rPr>
              <a:t>AI </a:t>
            </a:r>
            <a:r>
              <a:rPr lang="ko-KR" altLang="en-US" sz="2800" b="1" dirty="0">
                <a:solidFill>
                  <a:srgbClr val="152238"/>
                </a:solidFill>
                <a:latin typeface="Noto Sans CJK KR"/>
              </a:rPr>
              <a:t>에이전트로</a:t>
            </a:r>
            <a:r>
              <a:rPr sz="28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2800" b="1" dirty="0" err="1">
                <a:solidFill>
                  <a:srgbClr val="152238"/>
                </a:solidFill>
                <a:latin typeface="Noto Sans CJK KR"/>
              </a:rPr>
              <a:t>현황과</a:t>
            </a:r>
            <a:r>
              <a:rPr sz="28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2800" b="1" dirty="0" err="1">
                <a:solidFill>
                  <a:srgbClr val="152238"/>
                </a:solidFill>
                <a:latin typeface="Noto Sans CJK KR"/>
              </a:rPr>
              <a:t>계산</a:t>
            </a:r>
            <a:r>
              <a:rPr sz="28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2800" b="1" dirty="0" err="1">
                <a:solidFill>
                  <a:srgbClr val="152238"/>
                </a:solidFill>
                <a:latin typeface="Noto Sans CJK KR"/>
              </a:rPr>
              <a:t>근거</a:t>
            </a:r>
            <a:r>
              <a:rPr sz="2800" b="1" dirty="0">
                <a:solidFill>
                  <a:srgbClr val="152238"/>
                </a:solidFill>
                <a:latin typeface="Noto Sans CJK KR"/>
              </a:rPr>
              <a:t> </a:t>
            </a:r>
            <a:r>
              <a:rPr sz="2800" b="1" dirty="0" err="1">
                <a:solidFill>
                  <a:srgbClr val="152238"/>
                </a:solidFill>
                <a:latin typeface="Noto Sans CJK KR"/>
              </a:rPr>
              <a:t>확인</a:t>
            </a:r>
            <a:endParaRPr sz="2800" b="1" dirty="0">
              <a:solidFill>
                <a:srgbClr val="152238"/>
              </a:solidFill>
              <a:latin typeface="Noto Sans CJK KR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3533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353312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380423"/>
            <a:ext cx="10271455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문장으로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물으면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현황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조회·후보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검색·지원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방안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계산을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대신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실행하고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근거와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함께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답하는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AI 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에이전트</a:t>
            </a:r>
            <a:endParaRPr sz="1500" b="0" dirty="0">
              <a:solidFill>
                <a:srgbClr val="334155"/>
              </a:solidFill>
              <a:latin typeface="Noto Sans CJK KR"/>
            </a:endParaRPr>
          </a:p>
        </p:txBody>
      </p:sp>
      <p:pic>
        <p:nvPicPr>
          <p:cNvPr id="13" name="Picture 12" descr="4_에이전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103120"/>
            <a:ext cx="3410712" cy="206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2F5BE0"/>
                </a:solidFill>
                <a:latin typeface="Noto Sans CJK KR"/>
              </a:rPr>
              <a:t>AI </a:t>
            </a:r>
            <a:r>
              <a:rPr lang="ko-KR" altLang="en-US" sz="1200" b="1" dirty="0">
                <a:solidFill>
                  <a:srgbClr val="2F5BE0"/>
                </a:solidFill>
                <a:latin typeface="Noto Sans CJK KR"/>
              </a:rPr>
              <a:t>분석 에이전트</a:t>
            </a:r>
            <a:endParaRPr sz="1200" b="1" dirty="0">
              <a:solidFill>
                <a:srgbClr val="2F5BE0"/>
              </a:solidFill>
              <a:latin typeface="Noto Sans CJK KR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0" y="2542032"/>
            <a:ext cx="3410712" cy="896112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2743200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724912"/>
            <a:ext cx="254203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문장으로 질문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Noto Sans CJK KR"/>
              </a:rPr>
              <a:t>지역 현황·시설 후보·지원 방안 조회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621024"/>
            <a:ext cx="3410712" cy="896112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3822191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803904"/>
            <a:ext cx="254203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자료와 과정 확인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Noto Sans CJK KR"/>
              </a:rPr>
              <a:t>답변에 사용한 근거를 함께 표시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02  이용자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09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지역·종목·시간·예산으로 강좌 검색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533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353312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380423"/>
            <a:ext cx="10271455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내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지역·희망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종목·가능한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시간·예산을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넣으면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이용권으로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다닐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수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있는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강좌를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탐색</a:t>
            </a:r>
            <a:endParaRPr sz="1500" b="0" dirty="0">
              <a:solidFill>
                <a:srgbClr val="334155"/>
              </a:solidFill>
              <a:latin typeface="Noto Sans CJK KR"/>
            </a:endParaRPr>
          </a:p>
        </p:txBody>
      </p:sp>
      <p:pic>
        <p:nvPicPr>
          <p:cNvPr id="13" name="Picture 12" descr="5_이용자_강좌찾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103120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2F5BE0"/>
                </a:solidFill>
                <a:latin typeface="Noto Sans CJK KR"/>
              </a:rPr>
              <a:t>검색 결과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42032"/>
            <a:ext cx="3410712" cy="896112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2743200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724912"/>
            <a:ext cx="254203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조건 일치 여부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Noto Sans CJK KR"/>
              </a:rPr>
              <a:t>일치 · 확인 필요 · 불일치로 구분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621024"/>
            <a:ext cx="3410712" cy="896112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3822191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803904"/>
            <a:ext cx="254203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조건 변경 제안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64748B"/>
                </a:solidFill>
                <a:latin typeface="Noto Sans CJK KR"/>
              </a:rPr>
              <a:t>검색 결과가 늘어나는 조건 안내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02  이용자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10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지역별 강좌 현황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533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353312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380423"/>
            <a:ext cx="10271455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우리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시군구의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가맹시설·강좌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수와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종목·운영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시간대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분포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 조회</a:t>
            </a:r>
            <a:endParaRPr sz="1500" b="0" dirty="0">
              <a:solidFill>
                <a:srgbClr val="334155"/>
              </a:solidFill>
              <a:latin typeface="Noto Sans CJK KR"/>
            </a:endParaRPr>
          </a:p>
        </p:txBody>
      </p:sp>
      <p:pic>
        <p:nvPicPr>
          <p:cNvPr id="13" name="Picture 12" descr="6_이용자_지역별강좌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103120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2F5BE0"/>
                </a:solidFill>
                <a:latin typeface="Noto Sans CJK KR"/>
              </a:rPr>
              <a:t>한눈에 보는 우리 동네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42032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2679191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542032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가맹시설·강좌 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328415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3465575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328415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종목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114800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30768" y="4251960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114800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운영 시간대 분포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02  이용자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11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가맹시설 검색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533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353312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380423"/>
            <a:ext cx="10271455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종목·시설명으로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이용권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가맹시설을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찾고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시설별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강좌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시간표와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수강료를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확인</a:t>
            </a:r>
            <a:endParaRPr sz="1500" b="0" dirty="0">
              <a:solidFill>
                <a:srgbClr val="334155"/>
              </a:solidFill>
              <a:latin typeface="Noto Sans CJK KR"/>
            </a:endParaRPr>
          </a:p>
        </p:txBody>
      </p:sp>
      <p:pic>
        <p:nvPicPr>
          <p:cNvPr id="13" name="Picture 12" descr="7_이용자_시설검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103120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2F5BE0"/>
                </a:solidFill>
                <a:latin typeface="Noto Sans CJK KR"/>
              </a:rPr>
              <a:t>시설 찾기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42032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2679191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542032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종목·시설명 검색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328415"/>
            <a:ext cx="3410712" cy="603504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3465575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328415"/>
            <a:ext cx="2542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강좌 시간표·수강료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33087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2F5BE0"/>
                </a:solidFill>
                <a:latin typeface="Noto Sans CJK KR"/>
              </a:rPr>
              <a:t>ⓘ  </a:t>
            </a:r>
            <a:r>
              <a:rPr sz="1150" b="0">
                <a:solidFill>
                  <a:srgbClr val="64748B"/>
                </a:solidFill>
                <a:latin typeface="Noto Sans CJK KR"/>
              </a:rPr>
              <a:t>현재 모집 여부·잔여석은 시설에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02  이용자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3701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Noto Sans CJK KR"/>
              </a:rPr>
              <a:t>관리자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4375" y="32918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8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74375" y="329184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12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152238"/>
                </a:solidFill>
                <a:latin typeface="Noto Sans CJK KR"/>
              </a:rPr>
              <a:t>희망 강좌·시설 등록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53312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353312"/>
            <a:ext cx="713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380423"/>
            <a:ext cx="10271455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원하는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강좌가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없을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때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희망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종목·시간대와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이용하고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싶은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시설을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익명으로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요청 </a:t>
            </a:r>
            <a:r>
              <a:rPr lang="en-US" altLang="ko-KR" sz="1500" b="0" dirty="0">
                <a:solidFill>
                  <a:srgbClr val="334155"/>
                </a:solidFill>
                <a:latin typeface="Noto Sans CJK KR"/>
              </a:rPr>
              <a:t>-&gt;</a:t>
            </a:r>
            <a:r>
              <a:rPr lang="ko-KR" altLang="en-US" sz="1500" b="0" dirty="0">
                <a:solidFill>
                  <a:srgbClr val="334155"/>
                </a:solidFill>
                <a:latin typeface="Noto Sans CJK KR"/>
              </a:rPr>
              <a:t> 관리자가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지역별로</a:t>
            </a:r>
            <a:r>
              <a:rPr sz="1500" b="0" dirty="0">
                <a:solidFill>
                  <a:srgbClr val="334155"/>
                </a:solidFill>
                <a:latin typeface="Noto Sans CJK KR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Noto Sans CJK KR"/>
              </a:rPr>
              <a:t>집계</a:t>
            </a:r>
            <a:endParaRPr sz="1500" b="0" dirty="0">
              <a:solidFill>
                <a:srgbClr val="334155"/>
              </a:solidFill>
              <a:latin typeface="Noto Sans CJK KR"/>
            </a:endParaRPr>
          </a:p>
        </p:txBody>
      </p:sp>
      <p:pic>
        <p:nvPicPr>
          <p:cNvPr id="13" name="Picture 12" descr="8_이용자_희망등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74519"/>
            <a:ext cx="7365326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103120"/>
            <a:ext cx="3410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2F5BE0"/>
                </a:solidFill>
                <a:latin typeface="Noto Sans CJK KR"/>
              </a:rPr>
              <a:t>원하는 강좌가 없을 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42032"/>
            <a:ext cx="3410712" cy="65836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30768" y="2706624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542032"/>
            <a:ext cx="254203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희망 종목·시간대 등록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383279"/>
            <a:ext cx="3410712" cy="658368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30768" y="3547872"/>
            <a:ext cx="329184" cy="329184"/>
          </a:xfrm>
          <a:prstGeom prst="ellipse">
            <a:avLst/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383279"/>
            <a:ext cx="254203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52238"/>
                </a:solidFill>
                <a:latin typeface="Noto Sans CJK KR"/>
              </a:rPr>
              <a:t>시설 이용 희망 등록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69664"/>
            <a:ext cx="34107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 b="1">
                <a:solidFill>
                  <a:srgbClr val="2F5BE0"/>
                </a:solidFill>
                <a:latin typeface="Noto Sans CJK KR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645152"/>
            <a:ext cx="3410712" cy="822960"/>
          </a:xfrm>
          <a:prstGeom prst="roundRect">
            <a:avLst>
              <a:gd name="adj" fmla="val 14000"/>
            </a:avLst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4645152"/>
            <a:ext cx="295351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Noto Sans CJK KR"/>
              </a:rPr>
              <a:t>지역별 익명 집계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DCE5FF"/>
                </a:solidFill>
                <a:latin typeface="Noto Sans CJK KR"/>
              </a:rPr>
              <a:t>관리자 공급 검토 자료로 연결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2F5BE0"/>
                </a:solidFill>
                <a:latin typeface="Noto Sans CJK KR"/>
              </a:rPr>
              <a:t>03 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Noto Sans CJK KR"/>
              </a:rPr>
              <a:t>SPORTSBRIDGE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Noto Sans CJK KR"/>
              </a:rPr>
              <a:t>13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8686800" cy="479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 dirty="0" err="1">
                <a:solidFill>
                  <a:srgbClr val="152238"/>
                </a:solidFill>
                <a:latin typeface="Noto Sans CJK KR"/>
              </a:rPr>
              <a:t>웹사이트 시연</a:t>
            </a:r>
            <a:r>
              <a:rPr lang="ko-KR" altLang="en-US" sz="2800" b="1" dirty="0">
                <a:solidFill>
                  <a:srgbClr val="152238"/>
                </a:solidFill>
                <a:latin typeface="Noto Sans CJK KR"/>
              </a:rPr>
              <a:t/>
            </a:r>
            <a:r>
              <a:rPr lang="en-US" altLang="ko-KR" sz="2800" b="1" dirty="0">
                <a:solidFill>
                  <a:srgbClr val="152238"/>
                </a:solidFill>
                <a:latin typeface="Noto Sans CJK KR"/>
              </a:rPr>
              <a:t/>
            </a:r>
            <a:r>
              <a:rPr lang="en-US" altLang="ko-KR" sz="2800" b="1" dirty="0" err="1">
                <a:solidFill>
                  <a:srgbClr val="152238"/>
                </a:solidFill>
                <a:latin typeface="Noto Sans CJK KR"/>
              </a:rPr>
              <a:t/>
            </a:r>
            <a:r>
              <a:rPr lang="en-US" altLang="ko-KR" sz="2800" b="1" dirty="0">
                <a:solidFill>
                  <a:srgbClr val="152238"/>
                </a:solidFill>
                <a:latin typeface="Noto Sans CJK KR"/>
              </a:rPr>
              <a:t/>
            </a:r>
            <a:endParaRPr sz="2800" b="1" dirty="0">
              <a:solidFill>
                <a:srgbClr val="152238"/>
              </a:solidFill>
              <a:latin typeface="Noto Sans CJK KR"/>
            </a:endParaRPr>
          </a:p>
        </p:txBody>
      </p:sp>
      <p:pic>
        <p:nvPicPr>
          <p:cNvPr id="13" name="시연 링크 화면" descr="1_메인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624" y="1463040"/>
            <a:ext cx="6702446" cy="4160520"/>
          </a:xfrm>
          <a:prstGeom prst="rect">
            <a:avLst/>
          </a:prstGeom>
        </p:spPr>
      </p:pic>
      <p:sp>
        <p:nvSpPr>
          <p:cNvPr id="14" name="시연 링크 버튼">
            <a:hlinkClick r:id="rId2"/>
          </p:cNvPr>
          <p:cNvSpPr/>
          <p:nvPr/>
        </p:nvSpPr>
        <p:spPr>
          <a:xfrm>
            <a:off x="3992727" y="5742432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2F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 u="none">
                <a:solidFill>
                  <a:srgbClr val="FFFFFF"/>
                </a:solidFill>
                <a:latin typeface="Noto Sans CJK KR"/>
              </a:rPr>
              <a:t>sportsbridge.o-r.kr  열기  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1">
                <a:solidFill>
                  <a:srgbClr val="7C8DB0"/>
                </a:solidFill>
                <a:latin typeface="Noto Sans CJK KR"/>
              </a:rPr>
              <a:t>SPORTSBRIDGE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7395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C8DB0"/>
                </a:solidFill>
                <a:latin typeface="Noto Sans CJK KR"/>
              </a:rP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Noto Sans CJK KR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문요준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 b="0">
                <a:solidFill>
                  <a:srgbClr val="AFC2F5"/>
                </a:solidFill>
                <a:latin typeface="Noto Sans CJK KR"/>
              </a:rPr>
              <a:t>포항공과대학교 컴퓨터공학과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1120</Words>
  <Application>Microsoft Macintosh PowerPoint</Application>
  <PresentationFormat>와이드스크린</PresentationFormat>
  <Paragraphs>265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Noto Sans CJK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스포츠브릿지 | 5분 발표</dc:title>
  <dc:subject/>
  <dc:creator>문요준 · 포항공과대학교 컴퓨터공학과</dc:creator>
  <cp:keywords/>
  <dc:description>generated using python-pptx</dc:description>
  <cp:lastModifiedBy>문요준(컴퓨터공학과)</cp:lastModifiedBy>
  <cp:revision>8</cp:revision>
  <dcterms:created xsi:type="dcterms:W3CDTF">2013-01-27T09:14:16Z</dcterms:created>
  <dcterms:modified xsi:type="dcterms:W3CDTF">2026-10-26T02:31:16Z</dcterms:modified>
  <cp:category/>
</cp:coreProperties>
</file>